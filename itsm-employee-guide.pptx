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ITSM Employee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5BBFE8"/>
                </a:solidFill>
              </a:defRPr>
            </a:pPr>
            <a:r>
              <a:t>Your Complete Guide to Internal Support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Citadel Group Technologies Sdn Bhd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BFE8"/>
                </a:solidFill>
              </a:defRPr>
            </a:pPr>
            <a:r>
              <a:t>Launch Date: 2026</a:t>
            </a:r>
          </a:p>
        </p:txBody>
      </p:sp>
      <p:sp>
        <p:nvSpPr>
          <p:cNvPr id="6" name="Oval 5"/>
          <p:cNvSpPr/>
          <p:nvPr/>
        </p:nvSpPr>
        <p:spPr>
          <a:xfrm>
            <a:off x="10515600" y="457200"/>
            <a:ext cx="1371600" cy="1371600"/>
          </a:xfrm>
          <a:prstGeom prst="ellipse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What is ITSM?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One Platform</a:t>
            </a:r>
            <a:br/>
            <a:r>
              <a:t>for All Internal</a:t>
            </a:r>
            <a:br/>
            <a:r>
              <a:t>Support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828800"/>
            <a:ext cx="3657600" cy="182880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Faster Response</a:t>
            </a:r>
            <a:br/>
            <a:r>
              <a:t>Times</a:t>
            </a:r>
            <a:br/>
            <a:r>
              <a:t>From Our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828800"/>
            <a:ext cx="3657600" cy="1828800"/>
          </a:xfrm>
          <a:prstGeom prst="roundRect">
            <a:avLst/>
          </a:prstGeom>
          <a:solidFill>
            <a:srgbClr val="5BB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Easy Tracking</a:t>
            </a:r>
            <a:br/>
            <a:r>
              <a:t>of Your</a:t>
            </a:r>
            <a:br/>
            <a:r>
              <a:t>Ticket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</a:defRPr>
            </a:pPr>
            <a:r>
              <a:t>ITSM = Information Technology Service Management</a:t>
            </a:r>
            <a:br/>
            <a:r>
              <a:t>A simple way to request help and track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Support Services Covered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52CC"/>
                </a:solidFill>
              </a:defRPr>
            </a:pPr>
            <a:r>
              <a:t>IT Support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Get IT help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Email Management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Report System problem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Request Software Installation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Request new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A8DB8"/>
                </a:solidFill>
              </a:defRPr>
            </a:pPr>
            <a:r>
              <a:t>HR Services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Question for HR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New Hiring Request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New Employee Onboarding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Offboard an Employee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749039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BBFE8"/>
                </a:solidFill>
              </a:defRPr>
            </a:pPr>
            <a:r>
              <a:t>Finance Support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Purchase Requisition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Inter-Company Chargeback</a:t>
            </a:r>
          </a:p>
          <a:p>
            <a:pPr>
              <a:spcBef>
                <a:spcPts val="500"/>
              </a:spcBef>
              <a:defRPr sz="1300">
                <a:solidFill>
                  <a:srgbClr val="36454F"/>
                </a:solidFill>
              </a:defRPr>
            </a:pPr>
            <a:r>
              <a:t>• Submit Budget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How to Submit a Ticket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1.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Access the CWC portal with your company credentials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2. Choose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Select IT, HR, or Finance based on your need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3. Fill the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Provide clear details about your request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52628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4. Set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Choose LOW, MEDIUM, HIGH, or CRITICAL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4864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5. 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Click submit and note your ticket number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[Screenshot:</a:t>
            </a:r>
            <a:br/>
            <a:r>
              <a:t>Ticket Form]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HR Request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Question for HR (simple):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73152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737360"/>
            <a:ext cx="54864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2011680" cy="73152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IN_REVIEW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1737360"/>
            <a:ext cx="54864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New Hiring Request: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146304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301752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MANAGER</a:t>
            </a:r>
            <a:br/>
            <a:r>
              <a:t>REVIEW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3017520"/>
            <a:ext cx="146304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CEO APPROVAL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66560" y="301752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LOA</a:t>
            </a:r>
            <a:br/>
            <a:r>
              <a:t>PREPARATION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2104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69680" y="301752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LOA PENDING</a:t>
            </a:r>
            <a:br/>
            <a:r>
              <a:t>APPROVAL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424160" y="320040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0" y="3017520"/>
            <a:ext cx="914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Onboarding / Offboarding: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46304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11680" y="484632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560320" y="466344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TASK</a:t>
            </a:r>
            <a:br/>
            <a:r>
              <a:t>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577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(IT setup, access,</a:t>
            </a:r>
            <a:br/>
            <a:r>
              <a:t>equipment, etc.)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14800" y="484632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63440" y="4663440"/>
            <a:ext cx="146304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Finance Request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Purchase Requisition: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37160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554480"/>
            <a:ext cx="164592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  <a:br/>
            <a:r>
              <a:t>ACKNOWLEDGED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1554480"/>
            <a:ext cx="164592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CFO APPROVAL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PAYMENT</a:t>
            </a:r>
            <a:br/>
            <a:r>
              <a:t>PROCESSING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78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0" y="1554480"/>
            <a:ext cx="164592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AWAITING</a:t>
            </a:r>
            <a:br/>
            <a:r>
              <a:t>CONFIRMATION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1064240" y="17373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612880" y="155448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</a:defRPr>
            </a:pPr>
            <a:r>
              <a:rPr dirty="0"/>
              <a:t>High-Value (&gt;</a:t>
            </a:r>
            <a:r>
              <a:rPr lang="en-US" dirty="0"/>
              <a:t>MYR15,000</a:t>
            </a:r>
            <a:r>
              <a:rPr dirty="0"/>
              <a:t>): Routes to Group CEO after CFO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017520"/>
            <a:ext cx="1645920" cy="8229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GROUP CEO</a:t>
            </a:r>
            <a:br/>
            <a:r>
              <a:t>APPROVAL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577840" y="3886200"/>
            <a:ext cx="365760" cy="457200"/>
          </a:xfrm>
          <a:prstGeom prst="down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6666"/>
                </a:solidFill>
              </a:defRPr>
            </a:pPr>
            <a:r>
              <a:t>→ Payment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Inter-Company Chargeback: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280160" cy="6400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82880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77440" y="521208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FROM ENTITY</a:t>
            </a:r>
            <a:br/>
            <a:r>
              <a:t>APPROVAL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3192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80560" y="5212080"/>
            <a:ext cx="14630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TO ENTITY</a:t>
            </a:r>
            <a:br/>
            <a:r>
              <a:t>APPROVAL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3504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0" y="521208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FINANCE</a:t>
            </a:r>
            <a:br/>
            <a:r>
              <a:t>REVIEW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13816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0" y="5212080"/>
            <a:ext cx="1463040" cy="82296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AWAITING</a:t>
            </a:r>
            <a:br/>
            <a:r>
              <a:t>CONFIRMATION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241280" y="5394960"/>
            <a:ext cx="457200" cy="36576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789920" y="5212080"/>
            <a:ext cx="128016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How to Track Your Ticket Status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Dashboard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See all your tickets in one place with color-coded status badges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Email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Get automatic updates when your ticket status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02336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Ticket Details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Click any ticket to view full history and comments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21208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237E"/>
                </a:solidFill>
              </a:defRPr>
            </a:pPr>
            <a:r>
              <a:t>Search &amp;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Find tickets by category, date, or status quickly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Status Color Guide: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94560"/>
            <a:ext cx="731520" cy="41148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SUBMITTED - Received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788920"/>
            <a:ext cx="731520" cy="41148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IN REVIEW / IN PROGRESS - Being worked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383280"/>
            <a:ext cx="7315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PENDING - Awaiting approval or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977640"/>
            <a:ext cx="731520" cy="4114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3977640"/>
            <a:ext cx="320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rPr dirty="0"/>
              <a:t>PENDING APPROVAL </a:t>
            </a:r>
            <a:endParaRPr lang="en-US" dirty="0"/>
          </a:p>
          <a:p>
            <a:pPr>
              <a:defRPr sz="1200" b="0">
                <a:solidFill>
                  <a:srgbClr val="36454F"/>
                </a:solidFill>
              </a:defRPr>
            </a:pP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7772400" y="4572000"/>
            <a:ext cx="73152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RESOLVED / COMPLETED - Finished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Quick Reference &amp;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Be specific in your request description - more details = faster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Set the correct urgency level - CRITICAL is for system outages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Save your ticket number for easy reference in follow-ups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Check your email for status updates and requests for more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</a:defRPr>
            </a:pPr>
            <a:r>
              <a:t>✓ Close tickets once your issue is resolved to help our teams track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237E"/>
                </a:solidFill>
              </a:defRPr>
            </a:pPr>
            <a:r>
              <a:t>IT Request Status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</a:defRPr>
            </a:pPr>
            <a:r>
              <a:t>Understanding what each status means and what you need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What It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965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What You Need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828800" cy="77724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We received your request and it is in the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Wait for IT team to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1828800" cy="77724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749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IT team is checking and assessing your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749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May be contacted for more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828800" cy="777240"/>
          </a:xfrm>
          <a:prstGeom prst="roundRect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754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IT specialist is actively working on your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Wait for completion 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82880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760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Your request has been completed successfully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760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6454F"/>
                </a:solidFill>
              </a:defRPr>
            </a:pPr>
            <a:r>
              <a:t>Test and confirm everything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902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</a:defRPr>
            </a:pPr>
            <a:r>
              <a:rPr dirty="0"/>
              <a:t>💡 Tip: You will receive email notifications whenever your ticket status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237E"/>
                </a:solidFill>
              </a:defRPr>
            </a:pPr>
            <a:r>
              <a:t>Your IT Request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6666"/>
                </a:solidFill>
              </a:defRPr>
            </a:pPr>
            <a:r>
              <a:t>Four simple steps from submission to completion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You Submit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Fill out the request form</a:t>
            </a:r>
            <a:br/>
            <a:r>
              <a:t>Click Submit</a:t>
            </a:r>
            <a:br/>
            <a:r>
              <a:t>Receive ticket number via email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5760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IT Team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IT receives your ticket</a:t>
            </a:r>
            <a:br/>
            <a:r>
              <a:t>Checks details and priority</a:t>
            </a:r>
            <a:br/>
            <a:r>
              <a:t>May contact you for more info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8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IT Works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Specialist fixes the issue</a:t>
            </a:r>
            <a:br/>
            <a:r>
              <a:t>Or orders hardware/software</a:t>
            </a:r>
            <a:br/>
            <a:r>
              <a:t>Or installs required software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78240" y="2743200"/>
            <a:ext cx="548640" cy="457200"/>
          </a:xfrm>
          <a:prstGeom prst="rightArrow">
            <a:avLst/>
          </a:prstGeom>
          <a:solidFill>
            <a:srgbClr val="4A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9760" y="2011680"/>
            <a:ext cx="1097280" cy="1097280"/>
          </a:xfrm>
          <a:prstGeom prst="ellips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7E"/>
                </a:solidFill>
              </a:defRPr>
            </a:pPr>
            <a:r>
              <a:t>You Confirm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66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Receive completion notification</a:t>
            </a:r>
            <a:br/>
            <a:r>
              <a:t>Test that everything works</a:t>
            </a:r>
            <a:br/>
            <a:r>
              <a:t>Confirm and close the ticket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B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36454F"/>
                </a:solidFill>
              </a:defRPr>
            </a:pPr>
            <a:r>
              <a:t>📧 Email Updates: You will be notified at every step of the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666</Words>
  <Application>Microsoft Macintosh PowerPoint</Application>
  <PresentationFormat>Widescreen</PresentationFormat>
  <Paragraphs>135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 Yuan Fang</cp:lastModifiedBy>
  <cp:revision>4</cp:revision>
  <dcterms:created xsi:type="dcterms:W3CDTF">2013-01-27T09:14:16Z</dcterms:created>
  <dcterms:modified xsi:type="dcterms:W3CDTF">2026-04-26T16:31:12Z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2026-04-26T16:04:20Z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2dfbab3f-c7b5-4a46-9efd-14404cca0991</vt:lpwstr>
  </property>
  <property fmtid="{D5CDD505-2E9C-101B-9397-08002B2CF9AE}" pid="7" name="MSIP_Label_defa4170-0d19-0005-0004-bc88714345d2_ActionId">
    <vt:lpwstr>960f2ca5-8ff8-46b3-b965-401d7ea3853b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