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2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Get IT Help - Ticket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5BBFE8"/>
                </a:solidFill>
              </a:defRPr>
            </a:pPr>
            <a:r>
              <a:t>Complete Journey from Submission to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Citadel Group Technologies Sdn Bhd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Citadel Group Technologies Sdn Bhd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2CC"/>
                </a:solidFill>
              </a:defRPr>
            </a:pPr>
            <a:r>
              <a:t>Ticket Flow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7295" cy="457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72B4D"/>
                </a:solidFill>
              </a:defRPr>
            </a:pPr>
            <a:r>
              <a:t>This flowchart shows the complete journey of a "Get IT Help" ticket from the moment </a:t>
            </a:r>
            <a:br/>
            <a:r>
              <a:t>you submit it until it is resolved and closed.</a:t>
            </a:r>
            <a:br/>
            <a:br/>
            <a:r>
              <a:t>Key Stages:</a:t>
            </a:r>
            <a:br/>
            <a:r>
              <a:t>  • Submission - You create and submit the ticket</a:t>
            </a:r>
            <a:br/>
            <a:r>
              <a:t>  • Acknowledgment - IT team acknowledges receipt</a:t>
            </a:r>
            <a:br/>
            <a:r>
              <a:t>  • Review &amp; Assignment - Ticket is reviewed and assigned to specialist</a:t>
            </a:r>
            <a:br/>
            <a:r>
              <a:t>  • Resolution - IT specialist works on the solution</a:t>
            </a:r>
            <a:br/>
            <a:r>
              <a:t>  • Closure - Issue resolved and ticket closed</a:t>
            </a:r>
            <a:br/>
            <a:br/>
            <a:r>
              <a:t>The process varies based on:</a:t>
            </a:r>
            <a:br/>
            <a:r>
              <a:t>  • Urgency level (LOW, MEDIUM, HIGH, CRITICAL)</a:t>
            </a:r>
            <a:br/>
            <a:r>
              <a:t>  • Whether manager approval is required</a:t>
            </a:r>
            <a:br/>
            <a:r>
              <a:t>  • Hardware/software procurement needs</a:t>
            </a:r>
            <a:br/>
            <a:r>
              <a:t>  • Executive approval thresholds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High-Level Flow (Simple View)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1645920" cy="1097280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You Submit Ticket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423160" y="2651760"/>
            <a:ext cx="822960" cy="365760"/>
          </a:xfrm>
          <a:prstGeom prst="rightArrow">
            <a:avLst/>
          </a:prstGeom>
          <a:solidFill>
            <a:srgbClr val="6B7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2286000"/>
            <a:ext cx="1645920" cy="1097280"/>
          </a:xfrm>
          <a:prstGeom prst="roundRect">
            <a:avLst/>
          </a:prstGeom>
          <a:solidFill>
            <a:srgbClr val="D2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72B4D"/>
                </a:solidFill>
              </a:defRPr>
            </a:pPr>
            <a:r>
              <a:t>IT Acknowledges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251960" y="2651760"/>
            <a:ext cx="822960" cy="365760"/>
          </a:xfrm>
          <a:prstGeom prst="rightArrow">
            <a:avLst/>
          </a:prstGeom>
          <a:solidFill>
            <a:srgbClr val="6B7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2286000"/>
            <a:ext cx="1645920" cy="1097280"/>
          </a:xfrm>
          <a:prstGeom prst="roundRect">
            <a:avLst/>
          </a:prstGeom>
          <a:solidFill>
            <a:srgbClr val="D2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72B4D"/>
                </a:solidFill>
              </a:defRPr>
            </a:pPr>
            <a:r>
              <a:t>Ticket Assigned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80760" y="2651760"/>
            <a:ext cx="822960" cy="365760"/>
          </a:xfrm>
          <a:prstGeom prst="rightArrow">
            <a:avLst/>
          </a:prstGeom>
          <a:solidFill>
            <a:srgbClr val="6B7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2286000"/>
            <a:ext cx="1645920" cy="1097280"/>
          </a:xfrm>
          <a:prstGeom prst="roundRect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Issue Resolved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909560" y="2651760"/>
            <a:ext cx="822960" cy="365760"/>
          </a:xfrm>
          <a:prstGeom prst="rightArrow">
            <a:avLst/>
          </a:prstGeom>
          <a:solidFill>
            <a:srgbClr val="6B7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2286000"/>
            <a:ext cx="1645920" cy="109728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Ticket Closed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Detailed Flow: Submission → Assignment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286000" cy="731520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You Submit Ticket</a:t>
            </a:r>
            <a:br/>
            <a:r>
              <a:t>(Online Form)</a:t>
            </a:r>
          </a:p>
        </p:txBody>
      </p:sp>
      <p:sp>
        <p:nvSpPr>
          <p:cNvPr id="5" name="Down Arrow 4"/>
          <p:cNvSpPr/>
          <p:nvPr/>
        </p:nvSpPr>
        <p:spPr>
          <a:xfrm>
            <a:off x="1417320" y="2423160"/>
            <a:ext cx="365760" cy="457200"/>
          </a:xfrm>
          <a:prstGeom prst="downArrow">
            <a:avLst/>
          </a:prstGeom>
          <a:solidFill>
            <a:srgbClr val="6B7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926080"/>
            <a:ext cx="2286000" cy="640080"/>
          </a:xfrm>
          <a:prstGeom prst="rect">
            <a:avLst/>
          </a:prstGeom>
          <a:solidFill>
            <a:srgbClr val="D2E6FF"/>
          </a:solidFill>
          <a:ln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72B4D"/>
                </a:solidFill>
              </a:defRPr>
            </a:pPr>
            <a:r>
              <a:t>System Creates Ticket</a:t>
            </a:r>
            <a:br/>
            <a:r>
              <a:t>+ Sends Confirmation Email</a:t>
            </a:r>
          </a:p>
        </p:txBody>
      </p:sp>
      <p:sp>
        <p:nvSpPr>
          <p:cNvPr id="7" name="Down Arrow 6"/>
          <p:cNvSpPr/>
          <p:nvPr/>
        </p:nvSpPr>
        <p:spPr>
          <a:xfrm>
            <a:off x="1417320" y="3611880"/>
            <a:ext cx="365760" cy="457200"/>
          </a:xfrm>
          <a:prstGeom prst="downArrow">
            <a:avLst/>
          </a:prstGeom>
          <a:solidFill>
            <a:srgbClr val="6B7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4114800"/>
            <a:ext cx="2286000" cy="731520"/>
          </a:xfrm>
          <a:prstGeom prst="roundRect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IT Team Acknowledges</a:t>
            </a:r>
            <a:br/>
            <a:r>
              <a:t>(Within SLA Time)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34640" y="4389120"/>
            <a:ext cx="548640" cy="274320"/>
          </a:xfrm>
          <a:prstGeom prst="rightArrow">
            <a:avLst/>
          </a:prstGeom>
          <a:solidFill>
            <a:srgbClr val="6B7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3474720" y="3931920"/>
            <a:ext cx="2011680" cy="1371600"/>
          </a:xfrm>
          <a:prstGeom prst="diamond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Requires</a:t>
            </a:r>
            <a:br/>
            <a:r>
              <a:t>Manager</a:t>
            </a:r>
            <a:br/>
            <a:r>
              <a:t>Approval?</a:t>
            </a:r>
          </a:p>
        </p:txBody>
      </p:sp>
      <p:sp>
        <p:nvSpPr>
          <p:cNvPr id="11" name="Up Arrow 10"/>
          <p:cNvSpPr/>
          <p:nvPr/>
        </p:nvSpPr>
        <p:spPr>
          <a:xfrm>
            <a:off x="4480560" y="3200400"/>
            <a:ext cx="274320" cy="640080"/>
          </a:xfrm>
          <a:prstGeom prst="upArrow">
            <a:avLst/>
          </a:prstGeom>
          <a:solidFill>
            <a:srgbClr val="FF5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33832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630"/>
                </a:solidFill>
              </a:defRPr>
            </a:pPr>
            <a:r>
              <a:t>YES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577840" y="4389120"/>
            <a:ext cx="548640" cy="274320"/>
          </a:xfrm>
          <a:prstGeom prst="rightArrow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47548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6B37E"/>
                </a:solidFill>
              </a:defRPr>
            </a:pPr>
            <a:r>
              <a:t>NO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011680"/>
            <a:ext cx="2011680" cy="731520"/>
          </a:xfrm>
          <a:prstGeom prst="roundRect">
            <a:avLst/>
          </a:prstGeom>
          <a:solidFill>
            <a:srgbClr val="E6D2FF"/>
          </a:solidFill>
          <a:ln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72B4D"/>
                </a:solidFill>
              </a:defRPr>
            </a:pPr>
            <a:r>
              <a:t>Manager Reviews</a:t>
            </a:r>
            <a:br/>
            <a:r>
              <a:t>&amp; Approves/Rejects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217920" y="4389120"/>
            <a:ext cx="457200" cy="274320"/>
          </a:xfrm>
          <a:prstGeom prst="rightArrow">
            <a:avLst/>
          </a:prstGeom>
          <a:solidFill>
            <a:srgbClr val="6B7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66560" y="3931920"/>
            <a:ext cx="2286000" cy="731520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Ticket Assigned to</a:t>
            </a:r>
            <a:br/>
            <a:r>
              <a:t>IT Specialist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1645920"/>
            <a:ext cx="2286000" cy="1828800"/>
          </a:xfrm>
          <a:prstGeom prst="roundRect">
            <a:avLst/>
          </a:prstGeom>
          <a:solidFill>
            <a:srgbClr val="F4F5F7"/>
          </a:solidFill>
          <a:ln>
            <a:solidFill>
              <a:srgbClr val="6B7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72B4D"/>
                </a:solidFill>
              </a:defRPr>
            </a:pPr>
            <a:r>
              <a:t>Legend:</a:t>
            </a:r>
          </a:p>
          <a:p>
            <a:pPr>
              <a:defRPr sz="1000">
                <a:solidFill>
                  <a:srgbClr val="172B4D"/>
                </a:solidFill>
              </a:defRPr>
            </a:pPr>
            <a:r>
              <a:t>  • Blue boxes: Your actions / IT actions</a:t>
            </a:r>
          </a:p>
          <a:p>
            <a:pPr>
              <a:defRPr sz="1000">
                <a:solidFill>
                  <a:srgbClr val="172B4D"/>
                </a:solidFill>
              </a:defRPr>
            </a:pPr>
            <a:r>
              <a:t>  • Green boxes: Acknowledgment / Success</a:t>
            </a:r>
          </a:p>
          <a:p>
            <a:pPr>
              <a:defRPr sz="1000">
                <a:solidFill>
                  <a:srgbClr val="172B4D"/>
                </a:solidFill>
              </a:defRPr>
            </a:pPr>
            <a:r>
              <a:t>  • Orange diamond: Decision point</a:t>
            </a:r>
          </a:p>
          <a:p>
            <a:pPr>
              <a:defRPr sz="1000">
                <a:solidFill>
                  <a:srgbClr val="172B4D"/>
                </a:solidFill>
              </a:defRPr>
            </a:pPr>
            <a:r>
              <a:t>  • Purple boxes: Approval required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Detailed Flow: Resolution → Closure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286000" cy="640080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Ticket Assigned to</a:t>
            </a:r>
            <a:br/>
            <a:r>
              <a:t>IT Specialist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834640" y="1828800"/>
            <a:ext cx="457200" cy="274320"/>
          </a:xfrm>
          <a:prstGeom prst="rightArrow">
            <a:avLst/>
          </a:prstGeom>
          <a:solidFill>
            <a:srgbClr val="6B7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3280" y="1645920"/>
            <a:ext cx="2286000" cy="640080"/>
          </a:xfrm>
          <a:prstGeom prst="rect">
            <a:avLst/>
          </a:prstGeom>
          <a:solidFill>
            <a:srgbClr val="D2E6FF"/>
          </a:solidFill>
          <a:ln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72B4D"/>
                </a:solidFill>
              </a:defRPr>
            </a:pPr>
            <a:r>
              <a:t>Specialist Investigates</a:t>
            </a:r>
            <a:br/>
            <a:r>
              <a:t>&amp; Diagnoses Issue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760720" y="1828800"/>
            <a:ext cx="457200" cy="274320"/>
          </a:xfrm>
          <a:prstGeom prst="rightArrow">
            <a:avLst/>
          </a:prstGeom>
          <a:solidFill>
            <a:srgbClr val="6B7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6309360" y="1371600"/>
            <a:ext cx="2011680" cy="1188720"/>
          </a:xfrm>
          <a:prstGeom prst="diamond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Needs</a:t>
            </a:r>
            <a:br/>
            <a:r>
              <a:t>Hardware/</a:t>
            </a:r>
            <a:br/>
            <a:r>
              <a:t>Purchase?</a:t>
            </a:r>
          </a:p>
        </p:txBody>
      </p:sp>
      <p:sp>
        <p:nvSpPr>
          <p:cNvPr id="9" name="Down Arrow 8"/>
          <p:cNvSpPr/>
          <p:nvPr/>
        </p:nvSpPr>
        <p:spPr>
          <a:xfrm>
            <a:off x="7315200" y="2606040"/>
            <a:ext cx="274320" cy="640080"/>
          </a:xfrm>
          <a:prstGeom prst="downArrow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2743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6B37E"/>
                </a:solidFill>
              </a:defRPr>
            </a:pPr>
            <a:r>
              <a:t>NO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412480" y="1828800"/>
            <a:ext cx="457200" cy="274320"/>
          </a:xfrm>
          <a:prstGeom prst="rightArrow">
            <a:avLst/>
          </a:prstGeom>
          <a:solidFill>
            <a:srgbClr val="FF5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1945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630"/>
                </a:solidFill>
              </a:defRPr>
            </a:pPr>
            <a:r>
              <a:t>YES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291840"/>
            <a:ext cx="2011680" cy="731520"/>
          </a:xfrm>
          <a:prstGeom prst="roundRect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Implement</a:t>
            </a:r>
            <a:br/>
            <a:r>
              <a:t>Solution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371600"/>
            <a:ext cx="2560320" cy="640080"/>
          </a:xfrm>
          <a:prstGeom prst="roundRect">
            <a:avLst/>
          </a:prstGeom>
          <a:solidFill>
            <a:srgbClr val="FFE6C8"/>
          </a:solidFill>
          <a:ln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72B4D"/>
                </a:solidFill>
              </a:defRPr>
            </a:pPr>
            <a:r>
              <a:t>Procurement Process</a:t>
            </a:r>
            <a:br/>
            <a:r>
              <a:t>(Purchase Order / Vendor)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0241280" y="2057400"/>
            <a:ext cx="274320" cy="457200"/>
          </a:xfrm>
          <a:prstGeom prst="downArrow">
            <a:avLst/>
          </a:prstGeom>
          <a:solidFill>
            <a:srgbClr val="6B7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0" y="2560320"/>
            <a:ext cx="2560320" cy="640080"/>
          </a:xfrm>
          <a:prstGeom prst="roundRect">
            <a:avLst/>
          </a:prstGeom>
          <a:solidFill>
            <a:srgbClr val="E6D2FF"/>
          </a:solidFill>
          <a:ln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72B4D"/>
                </a:solidFill>
              </a:defRPr>
            </a:pPr>
            <a:r>
              <a:t>Executive Approval</a:t>
            </a:r>
            <a:br/>
            <a:r>
              <a:t>(CEO/CTO/CFO if &gt;threshold)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0241280" y="3246120"/>
            <a:ext cx="274320" cy="457200"/>
          </a:xfrm>
          <a:prstGeom prst="downArrow">
            <a:avLst/>
          </a:prstGeom>
          <a:solidFill>
            <a:srgbClr val="6B7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eft Arrow 17"/>
          <p:cNvSpPr/>
          <p:nvPr/>
        </p:nvSpPr>
        <p:spPr>
          <a:xfrm>
            <a:off x="8869680" y="3657600"/>
            <a:ext cx="2377440" cy="274320"/>
          </a:xfrm>
          <a:prstGeom prst="leftArrow">
            <a:avLst/>
          </a:prstGeom>
          <a:solidFill>
            <a:srgbClr val="6B7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7315200" y="4069080"/>
            <a:ext cx="274320" cy="457200"/>
          </a:xfrm>
          <a:prstGeom prst="downArrow">
            <a:avLst/>
          </a:prstGeom>
          <a:solidFill>
            <a:srgbClr val="6B7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4572000"/>
            <a:ext cx="2011680" cy="640080"/>
          </a:xfrm>
          <a:prstGeom prst="rect">
            <a:avLst/>
          </a:prstGeom>
          <a:solidFill>
            <a:srgbClr val="D2E6FF"/>
          </a:solidFill>
          <a:ln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72B4D"/>
                </a:solidFill>
              </a:defRPr>
            </a:pPr>
            <a:r>
              <a:t>Update Ticket</a:t>
            </a:r>
            <a:br/>
            <a:r>
              <a:t>+ Notify You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7315200" y="5257800"/>
            <a:ext cx="274320" cy="457200"/>
          </a:xfrm>
          <a:prstGeom prst="downArrow">
            <a:avLst/>
          </a:prstGeom>
          <a:solidFill>
            <a:srgbClr val="6B7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9360" y="5760720"/>
            <a:ext cx="2011680" cy="73152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Ticket Closed</a:t>
            </a:r>
            <a:br/>
            <a:r>
              <a:t>(You Confirm Resolution)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Citadel Group Technologies Sdn Bhd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2CC"/>
                </a:solidFill>
              </a:defRPr>
            </a:pPr>
            <a:r>
              <a:t>SLA Response Times by Urgency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7295" cy="457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11277295" cy="8229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5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1645920" cy="640080"/>
          </a:xfrm>
          <a:prstGeom prst="rect">
            <a:avLst/>
          </a:prstGeom>
          <a:solidFill>
            <a:srgbClr val="FF5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CRITICAL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9659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2B4D"/>
                </a:solidFill>
              </a:defRPr>
            </a:pPr>
            <a:r>
              <a:t>Response Within: 1 hour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2860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78C"/>
                </a:solidFill>
              </a:defRPr>
            </a:pPr>
            <a:r>
              <a:t>System-wide outage or total work stoppage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34640"/>
            <a:ext cx="11277295" cy="8229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926080"/>
            <a:ext cx="1645920" cy="64008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971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2B4D"/>
                </a:solidFill>
              </a:defRPr>
            </a:pPr>
            <a:r>
              <a:t>Response Within: 4 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2918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78C"/>
                </a:solidFill>
              </a:defRPr>
            </a:pPr>
            <a:r>
              <a:t>Significant issue affecting multiple users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11277295" cy="8229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931920"/>
            <a:ext cx="1645920" cy="6400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MEDIUM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977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2B4D"/>
                </a:solidFill>
              </a:defRPr>
            </a:pPr>
            <a:r>
              <a:t>Response Within: 24 hours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2976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78C"/>
                </a:solidFill>
              </a:defRPr>
            </a:pPr>
            <a:r>
              <a:t>Significant issue for a single user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846320"/>
            <a:ext cx="11277295" cy="8229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6B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937759"/>
            <a:ext cx="1645920" cy="640080"/>
          </a:xfrm>
          <a:prstGeom prst="rect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9834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2B4D"/>
                </a:solidFill>
              </a:defRPr>
            </a:pPr>
            <a:r>
              <a:t>Response Within: 48 hours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303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78C"/>
                </a:solidFill>
              </a:defRPr>
            </a:pPr>
            <a:r>
              <a:t>General inquiry or minor issue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Citadel Group Technologies Sdn Bhd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2CC"/>
                </a:solidFill>
              </a:defRPr>
            </a:pPr>
            <a:r>
              <a:t>What Each Status Means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7295" cy="457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1277295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52CC"/>
                </a:solidFill>
              </a:defRPr>
            </a:pPr>
            <a:r>
              <a:t>SUBMITTED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71624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72B4D"/>
                </a:solidFill>
              </a:defRPr>
            </a:pPr>
            <a:r>
              <a:t>→ Your ticket has been received and is in the queue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11277295" cy="54864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52CC"/>
                </a:solidFill>
              </a:defRPr>
            </a:pPr>
            <a:r>
              <a:t>IN_REVIEW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71624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72B4D"/>
                </a:solidFill>
              </a:defRPr>
            </a:pPr>
            <a:r>
              <a:t>→ IT team is reviewing your ticket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11277295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2608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52CC"/>
                </a:solidFill>
              </a:defRPr>
            </a:pPr>
            <a:r>
              <a:t>IN_PROGRESS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26080"/>
            <a:ext cx="71624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72B4D"/>
                </a:solidFill>
              </a:defRPr>
            </a:pPr>
            <a:r>
              <a:t>→ An IT specialist is actively working on your issue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66159"/>
            <a:ext cx="11277295" cy="54864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66159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52CC"/>
                </a:solidFill>
              </a:defRPr>
            </a:pPr>
            <a:r>
              <a:t>PENDING_MANAGER_APPROVAL_IT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566159"/>
            <a:ext cx="71624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72B4D"/>
                </a:solidFill>
              </a:defRPr>
            </a:pPr>
            <a:r>
              <a:t>→ Waiting for your manager to approve (if required)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06240"/>
            <a:ext cx="11277295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0624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52CC"/>
                </a:solidFill>
              </a:defRPr>
            </a:pPr>
            <a:r>
              <a:t>MANAGER_APPROVED_IT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206240"/>
            <a:ext cx="71624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72B4D"/>
                </a:solidFill>
              </a:defRPr>
            </a:pPr>
            <a:r>
              <a:t>→ Manager has approved, proceeding with resolution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46320"/>
            <a:ext cx="11277295" cy="54864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4632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52CC"/>
                </a:solidFill>
              </a:defRPr>
            </a:pPr>
            <a:r>
              <a:t>PROCUREMENT_IN_PROGRESS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846320"/>
            <a:ext cx="71624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72B4D"/>
                </a:solidFill>
              </a:defRPr>
            </a:pPr>
            <a:r>
              <a:t>→ Hardware/software is being ordered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486399"/>
            <a:ext cx="11277295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486399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52CC"/>
                </a:solidFill>
              </a:defRPr>
            </a:pPr>
            <a:r>
              <a:t>PENDING_CEO/CTO/CFO_APPROVAL_IT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486399"/>
            <a:ext cx="71624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72B4D"/>
                </a:solidFill>
              </a:defRPr>
            </a:pPr>
            <a:r>
              <a:t>→ Executive approval required for high-value items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126479"/>
            <a:ext cx="11277295" cy="54864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126479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52CC"/>
                </a:solidFill>
              </a:defRPr>
            </a:pPr>
            <a:r>
              <a:t>RESOLVED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126479"/>
            <a:ext cx="71624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72B4D"/>
                </a:solidFill>
              </a:defRPr>
            </a:pPr>
            <a:r>
              <a:t>→ Issue has been fixed - please confirm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766559"/>
            <a:ext cx="11277295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766559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52CC"/>
                </a:solidFill>
              </a:defRPr>
            </a:pPr>
            <a:r>
              <a:t>CLOSED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766559"/>
            <a:ext cx="71624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72B4D"/>
                </a:solidFill>
              </a:defRPr>
            </a:pPr>
            <a:r>
              <a:t>→ Ticket is complete and archived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Citadel Group Technologies Sdn Bhd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2CC"/>
                </a:solidFill>
              </a:defRPr>
            </a:pPr>
            <a:r>
              <a:t>Your Role in the Ticket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7295" cy="4572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72B4D"/>
                </a:solidFill>
              </a:defRPr>
            </a:pPr>
            <a:r>
              <a:t>Provide clear, detailed descriptions when submitting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06040"/>
            <a:ext cx="457200" cy="457200"/>
          </a:xfrm>
          <a:prstGeom prst="ellipse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146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72B4D"/>
                </a:solidFill>
              </a:defRPr>
            </a:pPr>
            <a:r>
              <a:t>Select the correct urgency level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004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72B4D"/>
                </a:solidFill>
              </a:defRPr>
            </a:pPr>
            <a:r>
              <a:t>Attach screenshots or error messages if available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77639"/>
            <a:ext cx="457200" cy="457200"/>
          </a:xfrm>
          <a:prstGeom prst="ellipse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8862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72B4D"/>
                </a:solidFill>
              </a:defRPr>
            </a:pPr>
            <a:r>
              <a:t>Respond promptly when IT requests more information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663440"/>
            <a:ext cx="457200" cy="457200"/>
          </a:xfrm>
          <a:prstGeom prst="ellipse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5720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72B4D"/>
                </a:solidFill>
              </a:defRPr>
            </a:pPr>
            <a:r>
              <a:t>Monitor your email for status updates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349240"/>
            <a:ext cx="457200" cy="457200"/>
          </a:xfrm>
          <a:prstGeom prst="ellipse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2578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72B4D"/>
                </a:solidFill>
              </a:defRPr>
            </a:pPr>
            <a:r>
              <a:t>Test the solution when IT marks ticket as resolved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6035040"/>
            <a:ext cx="457200" cy="457200"/>
          </a:xfrm>
          <a:prstGeom prst="ellipse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9436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72B4D"/>
                </a:solidFill>
              </a:defRPr>
            </a:pPr>
            <a:r>
              <a:t>Confirm closure or reopen if issue persists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6720840"/>
            <a:ext cx="457200" cy="457200"/>
          </a:xfrm>
          <a:prstGeom prst="ellipse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66294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72B4D"/>
                </a:solidFill>
              </a:defRPr>
            </a:pPr>
            <a:r>
              <a:t>Rate the service to help us improve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Reference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500"/>
              </a:spcBef>
              <a:defRPr sz="1600" b="1">
                <a:solidFill>
                  <a:srgbClr val="0052CC"/>
                </a:solidFill>
              </a:defRPr>
            </a:pPr>
            <a:r>
              <a:t>TICKET LIFECYCLE SUMMARY</a:t>
            </a:r>
          </a:p>
          <a:p>
            <a:pPr>
              <a:defRPr sz="1300">
                <a:solidFill>
                  <a:srgbClr val="6B778C"/>
                </a:solidFill>
              </a:defRPr>
            </a:pPr>
          </a:p>
          <a:p>
            <a:pPr>
              <a:spcBef>
                <a:spcPts val="800"/>
              </a:spcBef>
              <a:defRPr sz="1400" b="1">
                <a:solidFill>
                  <a:srgbClr val="172B4D"/>
                </a:solidFill>
              </a:defRPr>
            </a:pPr>
            <a:r>
              <a:t>1. SUBMIT → Fill out the "Get IT Help" form with all details</a:t>
            </a:r>
          </a:p>
          <a:p>
            <a:pPr>
              <a:spcBef>
                <a:spcPts val="800"/>
              </a:spcBef>
              <a:defRPr sz="1400" b="1">
                <a:solidFill>
                  <a:srgbClr val="172B4D"/>
                </a:solidFill>
              </a:defRPr>
            </a:pPr>
            <a:r>
              <a:t>2. ACKNOWLEDGE → IT team acknowledges within SLA time (1-48 hrs)</a:t>
            </a:r>
          </a:p>
          <a:p>
            <a:pPr>
              <a:spcBef>
                <a:spcPts val="800"/>
              </a:spcBef>
              <a:defRPr sz="1400" b="1">
                <a:solidFill>
                  <a:srgbClr val="172B4D"/>
                </a:solidFill>
              </a:defRPr>
            </a:pPr>
            <a:r>
              <a:t>3. ASSIGN → Ticket assigned to appropriate specialist</a:t>
            </a:r>
          </a:p>
          <a:p>
            <a:pPr>
              <a:spcBef>
                <a:spcPts val="800"/>
              </a:spcBef>
              <a:defRPr sz="1400" b="1">
                <a:solidFill>
                  <a:srgbClr val="172B4D"/>
                </a:solidFill>
              </a:defRPr>
            </a:pPr>
            <a:r>
              <a:t>4. APPROVE → Manager approval if required (for hardware/purchases)</a:t>
            </a:r>
          </a:p>
          <a:p>
            <a:pPr>
              <a:spcBef>
                <a:spcPts val="800"/>
              </a:spcBef>
              <a:defRPr sz="1400" b="1">
                <a:solidFill>
                  <a:srgbClr val="172B4D"/>
                </a:solidFill>
              </a:defRPr>
            </a:pPr>
            <a:r>
              <a:t>5. RESOLVE → Specialist diagnoses and implements solution</a:t>
            </a:r>
          </a:p>
          <a:p>
            <a:pPr>
              <a:spcBef>
                <a:spcPts val="800"/>
              </a:spcBef>
              <a:defRPr sz="1400" b="1">
                <a:solidFill>
                  <a:srgbClr val="172B4D"/>
                </a:solidFill>
              </a:defRPr>
            </a:pPr>
            <a:r>
              <a:t>6. PROCURE → If hardware needed: purchase order → executive approval → delivery</a:t>
            </a:r>
          </a:p>
          <a:p>
            <a:pPr>
              <a:spcBef>
                <a:spcPts val="800"/>
              </a:spcBef>
              <a:defRPr sz="1400" b="1">
                <a:solidFill>
                  <a:srgbClr val="172B4D"/>
                </a:solidFill>
              </a:defRPr>
            </a:pPr>
            <a:r>
              <a:t>7. UPDATE → You receive notifications at each stage</a:t>
            </a:r>
          </a:p>
          <a:p>
            <a:pPr>
              <a:spcBef>
                <a:spcPts val="800"/>
              </a:spcBef>
              <a:defRPr sz="1400" b="1">
                <a:solidFill>
                  <a:srgbClr val="172B4D"/>
                </a:solidFill>
              </a:defRPr>
            </a:pPr>
            <a:r>
              <a:t>8. CLOSE → You confirm resolution, ticket is closed</a:t>
            </a:r>
          </a:p>
          <a:p>
            <a:pPr>
              <a:defRPr sz="1300">
                <a:solidFill>
                  <a:srgbClr val="6B778C"/>
                </a:solidFill>
              </a:defRPr>
            </a:pPr>
          </a:p>
          <a:p>
            <a:pPr>
              <a:spcBef>
                <a:spcPts val="1500"/>
              </a:spcBef>
              <a:defRPr sz="1600" b="1">
                <a:solidFill>
                  <a:srgbClr val="0052CC"/>
                </a:solidFill>
              </a:defRPr>
            </a:pPr>
            <a:r>
              <a:t>KEY TIPS:</a:t>
            </a:r>
          </a:p>
          <a:p>
            <a:pPr>
              <a:spcBef>
                <a:spcPts val="500"/>
              </a:spcBef>
              <a:defRPr sz="1300">
                <a:solidFill>
                  <a:srgbClr val="172B4D"/>
                </a:solidFill>
              </a:defRPr>
            </a:pPr>
            <a:r>
              <a:t>• Use CRITICAL only for system-wide outages</a:t>
            </a:r>
          </a:p>
          <a:p>
            <a:pPr>
              <a:spcBef>
                <a:spcPts val="500"/>
              </a:spcBef>
              <a:defRPr sz="1300">
                <a:solidFill>
                  <a:srgbClr val="172B4D"/>
                </a:solidFill>
              </a:defRPr>
            </a:pPr>
            <a:r>
              <a:t>• Include error messages and screenshots</a:t>
            </a:r>
          </a:p>
          <a:p>
            <a:pPr>
              <a:spcBef>
                <a:spcPts val="500"/>
              </a:spcBef>
              <a:defRPr sz="1300">
                <a:solidFill>
                  <a:srgbClr val="172B4D"/>
                </a:solidFill>
              </a:defRPr>
            </a:pPr>
            <a:r>
              <a:t>• One ticket per issue</a:t>
            </a:r>
          </a:p>
          <a:p>
            <a:pPr>
              <a:spcBef>
                <a:spcPts val="500"/>
              </a:spcBef>
              <a:defRPr sz="1300">
                <a:solidFill>
                  <a:srgbClr val="172B4D"/>
                </a:solidFill>
              </a:defRPr>
            </a:pPr>
            <a:r>
              <a:t>• Check existing tickets before creating duplicates</a:t>
            </a:r>
          </a:p>
          <a:p>
            <a:pPr>
              <a:spcBef>
                <a:spcPts val="500"/>
              </a:spcBef>
              <a:defRPr sz="1300">
                <a:solidFill>
                  <a:srgbClr val="172B4D"/>
                </a:solidFill>
              </a:defRPr>
            </a:pPr>
            <a:r>
              <a:t>• Respond quickly to IT requests for faster resolution</a:t>
            </a:r>
          </a:p>
          <a:p>
            <a:pPr>
              <a:defRPr sz="1300">
                <a:solidFill>
                  <a:srgbClr val="6B778C"/>
                </a:solidFill>
              </a:defRPr>
            </a:pPr>
          </a:p>
          <a:p>
            <a:pPr>
              <a:spcBef>
                <a:spcPts val="1500"/>
              </a:spcBef>
              <a:defRPr sz="1600" b="1">
                <a:solidFill>
                  <a:srgbClr val="0052CC"/>
                </a:solidFill>
              </a:defRPr>
            </a:pPr>
            <a:r>
              <a:t>SUPPORT CONTACT:</a:t>
            </a:r>
          </a:p>
          <a:p>
            <a:pPr>
              <a:spcBef>
                <a:spcPts val="500"/>
              </a:spcBef>
              <a:defRPr sz="1300">
                <a:solidFill>
                  <a:srgbClr val="172B4D"/>
                </a:solidFill>
              </a:defRPr>
            </a:pPr>
            <a:r>
              <a:t>📧 itsupport@citadel.com.my | 📞 +60 3-XXXX-XXXX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